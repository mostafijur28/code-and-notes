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66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3716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</a:rPr>
              <a:t>Masterclass 2</a:t>
            </a:r>
            <a:endParaRPr lang="en-US" sz="5600" dirty="0"/>
          </a:p>
        </p:txBody>
      </p:sp>
      <p:sp>
        <p:nvSpPr>
          <p:cNvPr id="3" name="Text 1"/>
          <p:cNvSpPr/>
          <p:nvPr/>
        </p:nvSpPr>
        <p:spPr>
          <a:xfrm>
            <a:off x="914400" y="22860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0D4AA"/>
                </a:solidFill>
              </a:rPr>
              <a:t>Query Practice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914400" y="30175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</a:rPr>
              <a:t>Hands-On SQL Query Exercises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7432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66CC"/>
                </a:solidFill>
              </a:rPr>
              <a:t>Query Practice Session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274320" y="466344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Masterclass 2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640080"/>
          </a:xfrm>
          <a:prstGeom prst="roundRect">
            <a:avLst/>
          </a:prstGeom>
          <a:solidFill>
            <a:srgbClr val="F0F4F8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8872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66CC"/>
                </a:solidFill>
              </a:rPr>
              <a:t>Session Goals
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</a:rPr>
              <a:t>Practice writing and optimizing SQL queries through real-world scenarios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2011680"/>
            <a:ext cx="8229600" cy="5486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66C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2148840"/>
            <a:ext cx="274320" cy="274320"/>
          </a:xfrm>
          <a:prstGeom prst="ellipse">
            <a:avLst/>
          </a:prstGeom>
          <a:solidFill>
            <a:srgbClr val="0066CC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1488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05840" y="21031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66CC"/>
                </a:solidFill>
              </a:rPr>
              <a:t>SELECT Queries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474720" y="21031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</a:rPr>
              <a:t>Filtering and retrieving data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651760"/>
            <a:ext cx="8229600" cy="5486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D4A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" y="2788920"/>
            <a:ext cx="274320" cy="274320"/>
          </a:xfrm>
          <a:prstGeom prst="ellipse">
            <a:avLst/>
          </a:prstGeom>
          <a:solidFill>
            <a:srgbClr val="00D4AA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7889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05840" y="27432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D4AA"/>
                </a:solidFill>
              </a:rPr>
              <a:t>JOIN Operations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474720" y="27432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</a:rPr>
              <a:t>Combining multiple tables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291840"/>
            <a:ext cx="8229600" cy="5486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9B59B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" y="3429000"/>
            <a:ext cx="274320" cy="274320"/>
          </a:xfrm>
          <a:prstGeom prst="ellipse">
            <a:avLst/>
          </a:prstGeom>
          <a:solidFill>
            <a:srgbClr val="9B59B6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4290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05840" y="33832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B59B6"/>
                </a:solidFill>
              </a:rPr>
              <a:t>Aggregation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3474720" y="33832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</a:rPr>
              <a:t>GROUP BY and aggregate functions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" y="3931920"/>
            <a:ext cx="8229600" cy="5486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39C1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0080" y="4069080"/>
            <a:ext cx="274320" cy="274320"/>
          </a:xfrm>
          <a:prstGeom prst="ellipse">
            <a:avLst/>
          </a:prstGeom>
          <a:solidFill>
            <a:srgbClr val="F39C12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40690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005840" y="40233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9C12"/>
                </a:solidFill>
              </a:rPr>
              <a:t>Subqueries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3474720" y="40233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</a:rPr>
              <a:t>Nested queries and CTEs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7432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66CC"/>
                </a:solidFill>
              </a:rPr>
              <a:t>Sample Database Schema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274320" y="466344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Masterclass 2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4114800" cy="182880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0066C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97280"/>
            <a:ext cx="4114800" cy="365760"/>
          </a:xfrm>
          <a:prstGeom prst="roundRect">
            <a:avLst/>
          </a:prstGeom>
          <a:solidFill>
            <a:srgbClr val="0066CC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1430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customers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1554480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</a:rPr>
              <a:t>• customer_id (PK)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1783080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</a:rPr>
              <a:t>• name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2011680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</a:rPr>
              <a:t>• email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2240280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</a:rPr>
              <a:t>• city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2468880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</a:rPr>
              <a:t>• country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0" y="1097280"/>
            <a:ext cx="4114800" cy="182880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00D4A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29200" y="1097280"/>
            <a:ext cx="4114800" cy="365760"/>
          </a:xfrm>
          <a:prstGeom prst="roundRect">
            <a:avLst/>
          </a:prstGeom>
          <a:solidFill>
            <a:srgbClr val="00D4AA"/>
          </a:solidFill>
          <a:ln/>
        </p:spPr>
      </p:sp>
      <p:sp>
        <p:nvSpPr>
          <p:cNvPr id="14" name="Text 12"/>
          <p:cNvSpPr/>
          <p:nvPr/>
        </p:nvSpPr>
        <p:spPr>
          <a:xfrm>
            <a:off x="5212080" y="11430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orders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212080" y="1554480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</a:rPr>
              <a:t>• order_id (PK)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212080" y="1783080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</a:rPr>
              <a:t>• customer_id (FK)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212080" y="2011680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</a:rPr>
              <a:t>• order_date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212080" y="2240280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</a:rPr>
              <a:t>• total_amount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200400"/>
            <a:ext cx="4114800" cy="182880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9B59B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3200400"/>
            <a:ext cx="4114800" cy="365760"/>
          </a:xfrm>
          <a:prstGeom prst="roundRect">
            <a:avLst/>
          </a:prstGeom>
          <a:solidFill>
            <a:srgbClr val="9B59B6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324612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products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40080" y="3657600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</a:rPr>
              <a:t>• product_id (PK)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0080" y="3886200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</a:rPr>
              <a:t>• product_name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0080" y="4114800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</a:rPr>
              <a:t>• category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0080" y="4343400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</a:rPr>
              <a:t>• price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029200" y="3200400"/>
            <a:ext cx="4114800" cy="182880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F39C1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029200" y="3200400"/>
            <a:ext cx="4114800" cy="365760"/>
          </a:xfrm>
          <a:prstGeom prst="roundRect">
            <a:avLst/>
          </a:prstGeom>
          <a:solidFill>
            <a:srgbClr val="F39C12"/>
          </a:solidFill>
          <a:ln/>
        </p:spPr>
      </p:sp>
      <p:sp>
        <p:nvSpPr>
          <p:cNvPr id="28" name="Text 26"/>
          <p:cNvSpPr/>
          <p:nvPr/>
        </p:nvSpPr>
        <p:spPr>
          <a:xfrm>
            <a:off x="5212080" y="324612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order_items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212080" y="3657600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</a:rPr>
              <a:t>• item_id (PK)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212080" y="3886200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</a:rPr>
              <a:t>• order_id (FK)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212080" y="4114800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</a:rPr>
              <a:t>• product_id (FK)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212080" y="4343400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</a:rPr>
              <a:t>• quantity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7432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66CC"/>
                </a:solidFill>
              </a:rPr>
              <a:t>Exercise 1: Basic SELECT Queries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274320" y="466344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Masterclass 2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548640"/>
          </a:xfrm>
          <a:prstGeom prst="roundRect">
            <a:avLst/>
          </a:prstGeom>
          <a:solidFill>
            <a:srgbClr val="0066CC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8872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Task: Find all customers from the USA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3931920" cy="1371600"/>
          </a:xfrm>
          <a:prstGeom prst="roundRect">
            <a:avLst/>
          </a:prstGeom>
          <a:solidFill>
            <a:srgbClr val="F0F4F8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92024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66CC"/>
                </a:solidFill>
              </a:rPr>
              <a:t>Your Query: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2286000"/>
            <a:ext cx="3566160" cy="822960"/>
          </a:xfrm>
          <a:prstGeom prst="roundRect">
            <a:avLst/>
          </a:prstGeom>
          <a:solidFill>
            <a:srgbClr val="1A1A1A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331720"/>
            <a:ext cx="3383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*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customers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country = 'USA';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1828800"/>
            <a:ext cx="3931920" cy="1371600"/>
          </a:xfrm>
          <a:prstGeom prst="roundRect">
            <a:avLst/>
          </a:prstGeom>
          <a:solidFill>
            <a:srgbClr val="E8F5E9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0" y="192024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4AA"/>
                </a:solidFill>
              </a:rPr>
              <a:t>Key Concepts: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937760" y="2286000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</a:rPr>
              <a:t>• Use WHERE clause for filtering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</a:rPr>
              <a:t>• Specify exact column names instead of *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</a:rPr>
              <a:t>• Use single quotes for string values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383280"/>
            <a:ext cx="8229600" cy="822960"/>
          </a:xfrm>
          <a:prstGeom prst="roundRect">
            <a:avLst/>
          </a:prstGeom>
          <a:solidFill>
            <a:srgbClr val="FFF3CD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47472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56404"/>
                </a:solidFill>
              </a:rPr>
              <a:t>💡 Practice Variation: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" y="379476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56404"/>
                </a:solidFill>
              </a:rPr>
              <a:t>Find all customers from New York or California, ordered by name alphabetically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7432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66CC"/>
                </a:solidFill>
              </a:rPr>
              <a:t>Exercise 2: JOIN Operations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274320" y="466344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Masterclass 2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548640"/>
          </a:xfrm>
          <a:prstGeom prst="roundRect">
            <a:avLst/>
          </a:prstGeom>
          <a:solidFill>
            <a:srgbClr val="00D4AA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8872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Task: Show customer names with their order totals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8229600" cy="1645920"/>
          </a:xfrm>
          <a:prstGeom prst="roundRect">
            <a:avLst/>
          </a:prstGeom>
          <a:solidFill>
            <a:srgbClr val="1A1A1A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92024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4AA"/>
                </a:solidFill>
              </a:rPr>
              <a:t>Solution: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228600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c.name,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SUM(o.total_amount) AS order_total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customers c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INNER JOIN orders o ON c.customer_id = o.customer_id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c.customer_id, c.name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order_total DESC;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3657600"/>
            <a:ext cx="8229600" cy="548640"/>
          </a:xfrm>
          <a:prstGeom prst="roundRect">
            <a:avLst/>
          </a:prstGeom>
          <a:solidFill>
            <a:srgbClr val="F0F4F8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79476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</a:rPr>
              <a:t>Analysis: Uses INNER JOIN to combine tables, SUM() for aggregation, and GROUP BY for customer-level totals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7432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66CC"/>
                </a:solidFill>
              </a:rPr>
              <a:t>Exercise 3: Advanced Aggregation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274320" y="466344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Masterclass 2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640080"/>
          </a:xfrm>
          <a:prstGeom prst="roundRect">
            <a:avLst/>
          </a:prstGeom>
          <a:solidFill>
            <a:srgbClr val="9B59B6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2344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Task: Calculate monthly revenue and order count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1920240"/>
            <a:ext cx="8229600" cy="1463040"/>
          </a:xfrm>
          <a:prstGeom prst="roundRect">
            <a:avLst/>
          </a:prstGeom>
          <a:solidFill>
            <a:srgbClr val="1A1A1A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057400"/>
            <a:ext cx="7863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YEAR(order_date) AS year,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MONTH(order_date) AS month,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COUNT(order_id) AS order_count,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SUM(total_amount) AS monthly_revenue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orders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YEAR(order_date), MONTH(order_date)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year DESC, month DESC;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356616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</a:rPr>
              <a:t>✓ Use date functions to extract time periods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384048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</a:rPr>
              <a:t>✓ Multiple aggregates in one query for efficiency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411480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</a:rPr>
              <a:t>✓ GROUP BY must include all non-aggregated columns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7432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66CC"/>
                </a:solidFill>
              </a:rPr>
              <a:t>Exercise 4: Subqueries &amp; CTEs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274320" y="466344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Masterclass 2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640080"/>
          </a:xfrm>
          <a:prstGeom prst="roundRect">
            <a:avLst/>
          </a:prstGeom>
          <a:solidFill>
            <a:srgbClr val="F39C12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2344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Task: Find customers who spent more than average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1920240"/>
            <a:ext cx="3931920" cy="2011680"/>
          </a:xfrm>
          <a:prstGeom prst="roundRect">
            <a:avLst/>
          </a:prstGeom>
          <a:solidFill>
            <a:srgbClr val="FFF3CD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01168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56404"/>
                </a:solidFill>
              </a:rPr>
              <a:t>Subquery Approach: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2377440"/>
            <a:ext cx="3566160" cy="1463040"/>
          </a:xfrm>
          <a:prstGeom prst="roundRect">
            <a:avLst/>
          </a:prstGeom>
          <a:solidFill>
            <a:srgbClr val="1A1A1A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468880"/>
            <a:ext cx="33832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name,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total_spent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(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SELECT customer_id,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SUM(total_amount)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AS total_spent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FROM orders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GROUP BY customer_id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AS totals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total_spent 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(SELECT AVG(...))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754880" y="1920240"/>
            <a:ext cx="3931920" cy="2011680"/>
          </a:xfrm>
          <a:prstGeom prst="roundRect">
            <a:avLst/>
          </a:prstGeom>
          <a:solidFill>
            <a:srgbClr val="E8F5E9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0" y="201168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085"/>
                </a:solidFill>
              </a:rPr>
              <a:t>CTE Approach (Cleaner!):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937760" y="2377440"/>
            <a:ext cx="3566160" cy="1463040"/>
          </a:xfrm>
          <a:prstGeom prst="roundRect">
            <a:avLst/>
          </a:prstGeom>
          <a:solidFill>
            <a:srgbClr val="1A1A1A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0" y="2468880"/>
            <a:ext cx="33832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 customer_totals AS (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SELECT customer_id,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SUM(total_amount)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AS total_spent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FROM orders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GROUP BY customer_id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name,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total_spent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customer_totals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total_spent 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(SELECT AVG(...))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7432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66CC"/>
                </a:solidFill>
              </a:rPr>
              <a:t>Query Optimization Checklist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274320" y="466344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Masterclass 2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4114800" cy="914400"/>
          </a:xfrm>
          <a:prstGeom prst="roundRect">
            <a:avLst/>
          </a:prstGeom>
          <a:solidFill>
            <a:srgbClr val="F0F4F8"/>
          </a:solidFill>
          <a:ln w="25400">
            <a:solidFill>
              <a:srgbClr val="0066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3716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🔍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097280" y="128016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66CC"/>
                </a:solidFill>
              </a:rPr>
              <a:t>Use EXPLAIN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97280" y="160020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</a:rPr>
              <a:t>Analyze query execution plan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937760" y="1097280"/>
            <a:ext cx="4114800" cy="914400"/>
          </a:xfrm>
          <a:prstGeom prst="roundRect">
            <a:avLst/>
          </a:prstGeom>
          <a:solidFill>
            <a:srgbClr val="F0F4F8"/>
          </a:solidFill>
          <a:ln w="25400">
            <a:solidFill>
              <a:srgbClr val="0066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20640" y="13716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⚡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5577840" y="128016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66CC"/>
                </a:solidFill>
              </a:rPr>
              <a:t>Index Strategically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577840" y="160020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</a:rPr>
              <a:t>Create indexes on WHERE/JOIN columns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194560"/>
            <a:ext cx="4114800" cy="914400"/>
          </a:xfrm>
          <a:prstGeom prst="roundRect">
            <a:avLst/>
          </a:prstGeom>
          <a:solidFill>
            <a:srgbClr val="F0F4F8"/>
          </a:solidFill>
          <a:ln w="25400">
            <a:solidFill>
              <a:srgbClr val="0066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24688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🎯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097280" y="23774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66CC"/>
                </a:solidFill>
              </a:rPr>
              <a:t>Limit Data Early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97280" y="269748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</a:rPr>
              <a:t>Filter with WHERE before JOINs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937760" y="2194560"/>
            <a:ext cx="4114800" cy="914400"/>
          </a:xfrm>
          <a:prstGeom prst="roundRect">
            <a:avLst/>
          </a:prstGeom>
          <a:solidFill>
            <a:srgbClr val="F0F4F8"/>
          </a:solidFill>
          <a:ln w="25400">
            <a:solidFill>
              <a:srgbClr val="0066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20640" y="24688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📊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5577840" y="23774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66CC"/>
                </a:solidFill>
              </a:rPr>
              <a:t>Avoid SELECT *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577840" y="269748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</a:rPr>
              <a:t>Only retrieve needed columns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3291840"/>
            <a:ext cx="4114800" cy="914400"/>
          </a:xfrm>
          <a:prstGeom prst="roundRect">
            <a:avLst/>
          </a:prstGeom>
          <a:solidFill>
            <a:srgbClr val="F0F4F8"/>
          </a:solidFill>
          <a:ln w="25400">
            <a:solidFill>
              <a:srgbClr val="0066C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35661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📄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1097280" y="347472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66CC"/>
                </a:solidFill>
              </a:rPr>
              <a:t>Use LIMIT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97280" y="379476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</a:rPr>
              <a:t>Paginate large result sets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937760" y="3291840"/>
            <a:ext cx="4114800" cy="914400"/>
          </a:xfrm>
          <a:prstGeom prst="roundRect">
            <a:avLst/>
          </a:prstGeom>
          <a:solidFill>
            <a:srgbClr val="F0F4F8"/>
          </a:solidFill>
          <a:ln w="25400">
            <a:solidFill>
              <a:srgbClr val="0066C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20640" y="35661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📦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5577840" y="347472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66CC"/>
                </a:solidFill>
              </a:rPr>
              <a:t>Batch Operations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577840" y="379476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</a:rPr>
              <a:t>Process multiple rows at once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7432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66CC"/>
                </a:solidFill>
              </a:rPr>
              <a:t>Common Query Mistakes to Avoid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274320" y="466344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Masterclass 2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3931920" cy="914400"/>
          </a:xfrm>
          <a:prstGeom prst="roundRect">
            <a:avLst/>
          </a:prstGeom>
          <a:solidFill>
            <a:srgbClr val="FFE5E5"/>
          </a:solidFill>
          <a:ln w="25400">
            <a:solidFill>
              <a:srgbClr val="E74C3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28016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74C3C"/>
                </a:solidFill>
              </a:rPr>
              <a:t>❌ Wrong: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* FROM large_table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754880" y="1188720"/>
            <a:ext cx="3931920" cy="914400"/>
          </a:xfrm>
          <a:prstGeom prst="roundRect">
            <a:avLst/>
          </a:prstGeom>
          <a:solidFill>
            <a:srgbClr val="E8F5E9"/>
          </a:solidFill>
          <a:ln w="25400">
            <a:solidFill>
              <a:srgbClr val="00D4A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37760" y="128016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AA"/>
                </a:solidFill>
              </a:rPr>
              <a:t>✓ Better: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937760" y="155448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id, name FROM large_table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205740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Issue: Retrieving unnecessary data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286000"/>
            <a:ext cx="3931920" cy="914400"/>
          </a:xfrm>
          <a:prstGeom prst="roundRect">
            <a:avLst/>
          </a:prstGeom>
          <a:solidFill>
            <a:srgbClr val="FFE5E5"/>
          </a:solidFill>
          <a:ln w="25400">
            <a:solidFill>
              <a:srgbClr val="E74C3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37744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74C3C"/>
                </a:solidFill>
              </a:rPr>
              <a:t>❌ Wrong: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265176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YEAR(date) = 2024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54880" y="2286000"/>
            <a:ext cx="3931920" cy="914400"/>
          </a:xfrm>
          <a:prstGeom prst="roundRect">
            <a:avLst/>
          </a:prstGeom>
          <a:solidFill>
            <a:srgbClr val="E8F5E9"/>
          </a:solidFill>
          <a:ln w="25400">
            <a:solidFill>
              <a:srgbClr val="00D4A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37760" y="237744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AA"/>
                </a:solidFill>
              </a:rPr>
              <a:t>✓ Better: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937760" y="265176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date &gt;= '2024-01-01'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40080" y="315468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Issue: Prevents index usage on date column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3383280"/>
            <a:ext cx="3931920" cy="914400"/>
          </a:xfrm>
          <a:prstGeom prst="roundRect">
            <a:avLst/>
          </a:prstGeom>
          <a:solidFill>
            <a:srgbClr val="FFE5E5"/>
          </a:solidFill>
          <a:ln w="25400">
            <a:solidFill>
              <a:srgbClr val="E74C3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347472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74C3C"/>
                </a:solidFill>
              </a:rPr>
              <a:t>❌ Wrong: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0080" y="374904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Multiple separate queries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54880" y="3383280"/>
            <a:ext cx="3931920" cy="914400"/>
          </a:xfrm>
          <a:prstGeom prst="roundRect">
            <a:avLst/>
          </a:prstGeom>
          <a:solidFill>
            <a:srgbClr val="E8F5E9"/>
          </a:solidFill>
          <a:ln w="25400">
            <a:solidFill>
              <a:srgbClr val="00D4A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37760" y="347472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AA"/>
                </a:solidFill>
              </a:rPr>
              <a:t>✓ Better: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937760" y="374904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Single query with JOINs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40080" y="425196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Issue: N+1 query problem causes slowdown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7432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66CC"/>
                </a:solidFill>
              </a:rPr>
              <a:t>Continue Your Practice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274320" y="466344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Masterclass 2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685800"/>
          </a:xfrm>
          <a:prstGeom prst="roundRect">
            <a:avLst/>
          </a:prstGeom>
          <a:solidFill>
            <a:srgbClr val="F0F4F8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28016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66CC"/>
                </a:solidFill>
              </a:rPr>
              <a:t>LeetCode Database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</a:rPr>
              <a:t>Practice SQL problems by difficulty level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0" y="141732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0D4AA"/>
                </a:solidFill>
              </a:rPr>
              <a:t>leetcode.com/problemset/database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011680"/>
            <a:ext cx="8229600" cy="685800"/>
          </a:xfrm>
          <a:prstGeom prst="roundRect">
            <a:avLst/>
          </a:prstGeom>
          <a:solidFill>
            <a:srgbClr val="F0F4F8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10312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66CC"/>
                </a:solidFill>
              </a:rPr>
              <a:t>HackerRank SQL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0080" y="23774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</a:rPr>
              <a:t>Structured SQL challenges with solutions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0" y="224028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0D4AA"/>
                </a:solidFill>
              </a:rPr>
              <a:t>hackerrank.com/domains/sql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834640"/>
            <a:ext cx="8229600" cy="685800"/>
          </a:xfrm>
          <a:prstGeom prst="roundRect">
            <a:avLst/>
          </a:prstGeom>
          <a:solidFill>
            <a:srgbClr val="F0F4F8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92608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66CC"/>
                </a:solidFill>
              </a:rPr>
              <a:t>SQLZoo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0080" y="320040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</a:rPr>
              <a:t>Interactive SQL tutorials and exercises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86400" y="306324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0D4AA"/>
                </a:solidFill>
              </a:rPr>
              <a:t>sqlzoo.net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657600"/>
            <a:ext cx="8229600" cy="685800"/>
          </a:xfrm>
          <a:prstGeom prst="roundRect">
            <a:avLst/>
          </a:prstGeom>
          <a:solidFill>
            <a:srgbClr val="F0F4F8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74904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66CC"/>
                </a:solidFill>
              </a:rPr>
              <a:t>Mode Analytics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40080" y="402336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</a:rPr>
              <a:t>Real datasets with SQL playground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0" y="388620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0D4AA"/>
                </a:solidFill>
              </a:rPr>
              <a:t>mode.com/sql-tutorial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2026-01-20T08:38:50Z</dcterms:created>
  <dcterms:modified xsi:type="dcterms:W3CDTF">2026-01-20T08:38:50Z</dcterms:modified>
</cp:coreProperties>
</file>